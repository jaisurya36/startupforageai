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86"/>
  </p:normalViewPr>
  <p:slideViewPr>
    <p:cSldViewPr snapToGrid="0">
      <p:cViewPr varScale="1">
        <p:scale>
          <a:sx n="82" d="100"/>
          <a:sy n="82" d="100"/>
        </p:scale>
        <p:origin x="-691" y="-91"/>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xmlns=""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xmlns="" val="2897107072"/>
              </p:ext>
            </p:extLst>
          </p:nvPr>
        </p:nvGraphicFramePr>
        <p:xfrm>
          <a:off x="951724" y="2696547"/>
          <a:ext cx="10300995" cy="3116424"/>
        </p:xfrm>
        <a:graphic>
          <a:graphicData uri="http://schemas.openxmlformats.org/drawingml/2006/table">
            <a:tbl>
              <a:tblPr>
                <a:noFill/>
                <a:tableStyleId>{0AAD8F4D-43EB-41E5-8A38-28AB6DFB1B60}</a:tableStyleId>
              </a:tblPr>
              <a:tblGrid>
                <a:gridCol w="2263992">
                  <a:extLst>
                    <a:ext uri="{9D8B030D-6E8A-4147-A177-3AD203B41FA5}">
                      <a16:colId xmlns:a16="http://schemas.microsoft.com/office/drawing/2014/main" xmlns="" val="20000"/>
                    </a:ext>
                  </a:extLst>
                </a:gridCol>
                <a:gridCol w="2679001">
                  <a:extLst>
                    <a:ext uri="{9D8B030D-6E8A-4147-A177-3AD203B41FA5}">
                      <a16:colId xmlns:a16="http://schemas.microsoft.com/office/drawing/2014/main" xmlns="" val="20002"/>
                    </a:ext>
                  </a:extLst>
                </a:gridCol>
                <a:gridCol w="2679001">
                  <a:extLst>
                    <a:ext uri="{9D8B030D-6E8A-4147-A177-3AD203B41FA5}">
                      <a16:colId xmlns:a16="http://schemas.microsoft.com/office/drawing/2014/main" xmlns="" val="20003"/>
                    </a:ext>
                  </a:extLst>
                </a:gridCol>
                <a:gridCol w="2679001">
                  <a:extLst>
                    <a:ext uri="{9D8B030D-6E8A-4147-A177-3AD203B41FA5}">
                      <a16:colId xmlns:a16="http://schemas.microsoft.com/office/drawing/2014/main" xmlns="" val="20004"/>
                    </a:ext>
                  </a:extLst>
                </a:gridCol>
              </a:tblGrid>
              <a:tr h="139955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716867">
                <a:tc>
                  <a:txBody>
                    <a:bodyPr/>
                    <a:lstStyle/>
                    <a:p>
                      <a:pPr marL="0" marR="0" lvl="0" indent="0" algn="l" rtl="0">
                        <a:spcBef>
                          <a:spcPts val="0"/>
                        </a:spcBef>
                        <a:spcAft>
                          <a:spcPts val="0"/>
                        </a:spcAft>
                        <a:buNone/>
                      </a:pPr>
                      <a:r>
                        <a:rPr lang="en-IN" dirty="0" smtClean="0"/>
                        <a:t>JAISURYA</a:t>
                      </a:r>
                      <a:r>
                        <a:rPr lang="en-IN" baseline="0" dirty="0" smtClean="0"/>
                        <a:t> S 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t>jaisuryasm326@gmail.com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t>9080004814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dirty="0" smtClean="0"/>
              <a:t>Entrepreneurship / Business Intelligence / Startup Ecosystem</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dirty="0" err="1" smtClean="0"/>
              <a:t>StartupForge</a:t>
            </a:r>
            <a:r>
              <a:rPr lang="en-US" sz="2400" dirty="0" smtClean="0"/>
              <a:t> AI: </a:t>
            </a:r>
            <a:r>
              <a:rPr lang="en-US" sz="2400" dirty="0" err="1" smtClean="0"/>
              <a:t>Agentic</a:t>
            </a:r>
            <a:r>
              <a:rPr lang="en-US" sz="2400" dirty="0" smtClean="0"/>
              <a:t> Startup Blueprint Generator</a:t>
            </a:r>
            <a:endParaRPr lang="en-IN" sz="2400" b="1" dirty="0">
              <a:highlight>
                <a:srgbClr val="FFFF00"/>
              </a:highlight>
            </a:endParaRPr>
          </a:p>
        </p:txBody>
      </p:sp>
      <p:pic>
        <p:nvPicPr>
          <p:cNvPr id="8" name="Picture 7" descr="WhatsApp Image 2025-02-03 at 18.19.46_61c55346.jpg"/>
          <p:cNvPicPr>
            <a:picLocks noChangeAspect="1"/>
          </p:cNvPicPr>
          <p:nvPr/>
        </p:nvPicPr>
        <p:blipFill>
          <a:blip r:embed="rId3"/>
          <a:stretch>
            <a:fillRect/>
          </a:stretch>
        </p:blipFill>
        <p:spPr>
          <a:xfrm>
            <a:off x="3956909" y="4198775"/>
            <a:ext cx="1324217" cy="154888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5909310"/>
          </a:xfrm>
          <a:prstGeom prst="rect">
            <a:avLst/>
          </a:prstGeom>
          <a:noFill/>
        </p:spPr>
        <p:txBody>
          <a:bodyPr wrap="square" rtlCol="0">
            <a:spAutoFit/>
          </a:bodyPr>
          <a:lstStyle/>
          <a:p>
            <a:pPr fontAlgn="base"/>
            <a:r>
              <a:rPr lang="en-US" b="1" dirty="0"/>
              <a:t>Problem Statement </a:t>
            </a:r>
            <a:r>
              <a:rPr lang="en-US" b="1" dirty="0" smtClean="0"/>
              <a:t>:</a:t>
            </a:r>
            <a:r>
              <a:rPr lang="en-US" dirty="0" smtClean="0"/>
              <a:t>Startup Blueprint Generator Agent</a:t>
            </a:r>
            <a:endParaRPr lang="en-US" dirty="0"/>
          </a:p>
          <a:p>
            <a:pPr fontAlgn="base"/>
            <a:endParaRPr lang="en-US" b="1" dirty="0"/>
          </a:p>
          <a:p>
            <a:pPr fontAlgn="base"/>
            <a:r>
              <a:rPr lang="en-US" b="1" dirty="0"/>
              <a:t>The Challenge</a:t>
            </a:r>
            <a:r>
              <a:rPr lang="en-US" dirty="0"/>
              <a:t> </a:t>
            </a:r>
          </a:p>
          <a:p>
            <a:pPr fontAlgn="base"/>
            <a:r>
              <a:rPr lang="en-US" dirty="0" smtClean="0"/>
              <a:t>Aspiring entrepreneurs often have innovative startup ideas but struggle to transform them into structured business plans. Information related to market research, funding opportunities, government schemes, business models, and startup roadmaps is scattered across multiple sources. Many founders lack access to expert guidance during the early stages of startup development, leading to poor planning, inefficient resource utilization, and high failure rates.</a:t>
            </a:r>
            <a:r>
              <a:rPr lang="en-US" dirty="0" smtClean="0"/>
              <a:t>.</a:t>
            </a:r>
            <a:r>
              <a:rPr lang="en-US" dirty="0"/>
              <a:t> </a:t>
            </a:r>
          </a:p>
          <a:p>
            <a:pPr fontAlgn="base"/>
            <a:endParaRPr lang="en-US" dirty="0"/>
          </a:p>
          <a:p>
            <a:pPr fontAlgn="base"/>
            <a:r>
              <a:rPr lang="en-US" b="1" dirty="0"/>
              <a:t>The Objective</a:t>
            </a:r>
            <a:r>
              <a:rPr lang="en-US" dirty="0"/>
              <a:t> </a:t>
            </a:r>
          </a:p>
          <a:p>
            <a:r>
              <a:rPr lang="en-US" dirty="0" smtClean="0"/>
              <a:t>Build an AI-powered Startup Blueprint Generator Agent that transforms startup ideas into actionable business blueprints.</a:t>
            </a:r>
          </a:p>
          <a:p>
            <a:r>
              <a:rPr lang="en-US" dirty="0" smtClean="0"/>
              <a:t>The solution should:</a:t>
            </a:r>
          </a:p>
          <a:p>
            <a:r>
              <a:rPr lang="en-US" dirty="0" smtClean="0"/>
              <a:t>• Idea Analysis – Analyze startup ideas and identify target users, problem statements, and value propositions.</a:t>
            </a:r>
          </a:p>
          <a:p>
            <a:r>
              <a:rPr lang="en-US" dirty="0" smtClean="0"/>
              <a:t>• Market Research – Retrieve and summarize market trends, competitors, opportunities, and risks.</a:t>
            </a:r>
          </a:p>
          <a:p>
            <a:r>
              <a:rPr lang="en-US" dirty="0" smtClean="0"/>
              <a:t>• Business Strategy Generation – Recommend revenue models, pricing strategies, customer segments, and value propositions.</a:t>
            </a:r>
          </a:p>
          <a:p>
            <a:r>
              <a:rPr lang="en-US" dirty="0" smtClean="0"/>
              <a:t>• Funding &amp; Grants Discovery – Retrieve startup funding opportunities, government schemes, grants, and incubator programs using RAG.</a:t>
            </a:r>
          </a:p>
          <a:p>
            <a:r>
              <a:rPr lang="en-US" dirty="0" smtClean="0"/>
              <a:t>• Startup Roadmap Planning – Generate step-by-step implementation plans from idea validation to product launch.</a:t>
            </a:r>
          </a:p>
          <a:p>
            <a:r>
              <a:rPr lang="en-US" dirty="0" smtClean="0"/>
              <a:t>• Startup Readiness Assessment – Evaluate feasibility, scalability, funding potential, and innovation through a startup readiness score.</a:t>
            </a:r>
          </a:p>
          <a:p>
            <a:r>
              <a:rPr lang="en-US" dirty="0" smtClean="0"/>
              <a:t>Multi-Agent System –</a:t>
            </a:r>
          </a:p>
          <a:p>
            <a:r>
              <a:rPr lang="en-US" dirty="0" smtClean="0"/>
              <a:t>Idea Analysis </a:t>
            </a:r>
            <a:r>
              <a:rPr lang="en-US" dirty="0" err="1" smtClean="0"/>
              <a:t>Agent,Analyzes</a:t>
            </a:r>
            <a:r>
              <a:rPr lang="en-US" dirty="0" smtClean="0"/>
              <a:t> </a:t>
            </a:r>
            <a:r>
              <a:rPr lang="en-US" dirty="0" smtClean="0"/>
              <a:t>startup ideas and extracts business </a:t>
            </a:r>
            <a:r>
              <a:rPr lang="en-US" dirty="0" err="1" smtClean="0"/>
              <a:t>insights,Market</a:t>
            </a:r>
            <a:r>
              <a:rPr lang="en-US" dirty="0" smtClean="0"/>
              <a:t> </a:t>
            </a:r>
            <a:r>
              <a:rPr lang="en-US" dirty="0" smtClean="0"/>
              <a:t>Research </a:t>
            </a:r>
            <a:r>
              <a:rPr lang="en-US" dirty="0" err="1" smtClean="0"/>
              <a:t>Agent,Performs</a:t>
            </a:r>
            <a:r>
              <a:rPr lang="en-US" dirty="0" smtClean="0"/>
              <a:t> </a:t>
            </a:r>
            <a:r>
              <a:rPr lang="en-US" dirty="0" smtClean="0"/>
              <a:t>competitor </a:t>
            </a:r>
            <a:r>
              <a:rPr lang="en-US" dirty="0" err="1" smtClean="0"/>
              <a:t>analysis,trend</a:t>
            </a:r>
            <a:r>
              <a:rPr lang="en-US" dirty="0" smtClean="0"/>
              <a:t> </a:t>
            </a:r>
            <a:r>
              <a:rPr lang="en-US" dirty="0" smtClean="0"/>
              <a:t>analysis, and opportunity </a:t>
            </a:r>
            <a:r>
              <a:rPr lang="en-US" dirty="0" err="1" smtClean="0"/>
              <a:t>identification,Business</a:t>
            </a:r>
            <a:r>
              <a:rPr lang="en-US" dirty="0" smtClean="0"/>
              <a:t> </a:t>
            </a:r>
            <a:r>
              <a:rPr lang="en-US" dirty="0" smtClean="0"/>
              <a:t>Model </a:t>
            </a:r>
            <a:r>
              <a:rPr lang="en-US" dirty="0" err="1" smtClean="0"/>
              <a:t>Agent,Generates</a:t>
            </a:r>
            <a:r>
              <a:rPr lang="en-US" dirty="0" smtClean="0"/>
              <a:t> </a:t>
            </a:r>
            <a:r>
              <a:rPr lang="en-US" dirty="0" smtClean="0"/>
              <a:t>revenue strategies, pricing models, </a:t>
            </a:r>
            <a:r>
              <a:rPr lang="en-US" dirty="0" err="1" smtClean="0"/>
              <a:t>andcustomer</a:t>
            </a:r>
            <a:r>
              <a:rPr lang="en-US" dirty="0" smtClean="0"/>
              <a:t> </a:t>
            </a:r>
            <a:r>
              <a:rPr lang="en-US" dirty="0" err="1" smtClean="0"/>
              <a:t>segmentation,Funding</a:t>
            </a:r>
            <a:r>
              <a:rPr lang="en-US" dirty="0" smtClean="0"/>
              <a:t> </a:t>
            </a:r>
            <a:r>
              <a:rPr lang="en-US" dirty="0" err="1" smtClean="0"/>
              <a:t>Agent,Retrieves</a:t>
            </a:r>
            <a:r>
              <a:rPr lang="en-US" dirty="0" smtClean="0"/>
              <a:t> </a:t>
            </a:r>
            <a:r>
              <a:rPr lang="en-US" dirty="0" smtClean="0"/>
              <a:t>funding schemes, grants, incubators, and investor opportunities using </a:t>
            </a:r>
            <a:r>
              <a:rPr lang="en-US" dirty="0" err="1" smtClean="0"/>
              <a:t>RAG,Roadmap</a:t>
            </a:r>
            <a:r>
              <a:rPr lang="en-US" dirty="0" smtClean="0"/>
              <a:t> </a:t>
            </a:r>
            <a:r>
              <a:rPr lang="en-US" dirty="0" err="1" smtClean="0"/>
              <a:t>Agent,Creates</a:t>
            </a:r>
            <a:r>
              <a:rPr lang="en-US" dirty="0" smtClean="0"/>
              <a:t> </a:t>
            </a:r>
            <a:r>
              <a:rPr lang="en-US" dirty="0" smtClean="0"/>
              <a:t>startup execution and growth plans.</a:t>
            </a:r>
          </a:p>
          <a:p>
            <a:r>
              <a:rPr lang="en-US" dirty="0" smtClean="0"/>
              <a:t>Readiness Assessment </a:t>
            </a:r>
            <a:r>
              <a:rPr lang="en-US" dirty="0" err="1" smtClean="0"/>
              <a:t>AgentEvaluates</a:t>
            </a:r>
            <a:r>
              <a:rPr lang="en-US" dirty="0" smtClean="0"/>
              <a:t> </a:t>
            </a:r>
            <a:r>
              <a:rPr lang="en-US" dirty="0" smtClean="0"/>
              <a:t>startup feasibility and generates readiness </a:t>
            </a:r>
            <a:r>
              <a:rPr lang="en-US" dirty="0" err="1" smtClean="0"/>
              <a:t>scores.Blueprint</a:t>
            </a:r>
            <a:r>
              <a:rPr lang="en-US" dirty="0" smtClean="0"/>
              <a:t> </a:t>
            </a:r>
            <a:r>
              <a:rPr lang="en-US" dirty="0" smtClean="0"/>
              <a:t>Generator </a:t>
            </a:r>
            <a:r>
              <a:rPr lang="en-US" dirty="0" smtClean="0"/>
              <a:t>Agent.</a:t>
            </a:r>
            <a:endParaRPr lang="en-US" dirty="0" smtClean="0"/>
          </a:p>
          <a:p>
            <a:pPr fontAlgn="base"/>
            <a:endParaRPr lang="en-US"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r>
              <a:rPr lang="en-US" sz="2400" b="1" dirty="0" smtClean="0"/>
              <a:t>:</a:t>
            </a:r>
            <a:endParaRPr lang="en-IN" sz="2400" b="1" dirty="0"/>
          </a:p>
        </p:txBody>
      </p:sp>
    </p:spTree>
    <p:extLst>
      <p:ext uri="{BB962C8B-B14F-4D97-AF65-F5344CB8AC3E}">
        <p14:creationId xmlns:p14="http://schemas.microsoft.com/office/powerpoint/2010/main" xmlns=""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07CFCB91-EF22-EB8C-5B0D-4D46021F0245}"/>
              </a:ext>
            </a:extLst>
          </p:cNvPr>
          <p:cNvSpPr txBox="1"/>
          <p:nvPr/>
        </p:nvSpPr>
        <p:spPr>
          <a:xfrm>
            <a:off x="630189" y="1175083"/>
            <a:ext cx="10607040" cy="1384995"/>
          </a:xfrm>
          <a:prstGeom prst="rect">
            <a:avLst/>
          </a:prstGeom>
          <a:noFill/>
        </p:spPr>
        <p:txBody>
          <a:bodyPr wrap="square" rtlCol="0">
            <a:spAutoFit/>
          </a:bodyPr>
          <a:lstStyle/>
          <a:p>
            <a:pPr fontAlgn="base">
              <a:buFont typeface="Arial" pitchFamily="34" charset="0"/>
              <a:buChar char="•"/>
            </a:pPr>
            <a:endParaRPr lang="en-US" b="1" dirty="0"/>
          </a:p>
          <a:p>
            <a:pPr>
              <a:buFont typeface="Arial" pitchFamily="34" charset="0"/>
              <a:buChar char="•"/>
            </a:pPr>
            <a:r>
              <a:rPr lang="en-US" dirty="0" smtClean="0"/>
              <a:t>Tech Stack :</a:t>
            </a:r>
          </a:p>
          <a:p>
            <a:pPr>
              <a:buFont typeface="Arial" pitchFamily="34" charset="0"/>
              <a:buChar char="•"/>
            </a:pPr>
            <a:r>
              <a:rPr lang="en-US" dirty="0" err="1" smtClean="0"/>
              <a:t>LangFlow</a:t>
            </a:r>
            <a:r>
              <a:rPr lang="en-US" dirty="0" smtClean="0"/>
              <a:t> </a:t>
            </a:r>
            <a:endParaRPr lang="en-US" dirty="0" smtClean="0"/>
          </a:p>
          <a:p>
            <a:pPr>
              <a:buFont typeface="Arial" pitchFamily="34" charset="0"/>
              <a:buChar char="•"/>
            </a:pPr>
            <a:r>
              <a:rPr lang="en-US" dirty="0" smtClean="0"/>
              <a:t> </a:t>
            </a:r>
            <a:r>
              <a:rPr lang="en-US" dirty="0" smtClean="0"/>
              <a:t>IBM watsonx.ai </a:t>
            </a:r>
            <a:endParaRPr lang="en-US" dirty="0" smtClean="0"/>
          </a:p>
          <a:p>
            <a:pPr>
              <a:buFont typeface="Arial" pitchFamily="34" charset="0"/>
              <a:buChar char="•"/>
            </a:pPr>
            <a:r>
              <a:rPr lang="en-US" dirty="0" smtClean="0"/>
              <a:t> </a:t>
            </a:r>
            <a:r>
              <a:rPr lang="en-US" dirty="0" smtClean="0"/>
              <a:t>IBM Granite Models</a:t>
            </a:r>
          </a:p>
          <a:p>
            <a:pPr>
              <a:buFont typeface="Arial" pitchFamily="34" charset="0"/>
              <a:buChar char="•"/>
            </a:pPr>
            <a:endParaRPr lang="en-IN" dirty="0"/>
          </a:p>
        </p:txBody>
      </p:sp>
      <p:sp>
        <p:nvSpPr>
          <p:cNvPr id="3" name="TextBox 2">
            <a:extLst>
              <a:ext uri="{FF2B5EF4-FFF2-40B4-BE49-F238E27FC236}">
                <a16:creationId xmlns:a16="http://schemas.microsoft.com/office/drawing/2014/main" xmlns=""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a:t>
            </a:r>
            <a:r>
              <a:rPr lang="en-US" sz="2400" b="1" dirty="0" smtClean="0"/>
              <a:t>Used.: </a:t>
            </a:r>
            <a:endParaRPr lang="en-IN" sz="2400" b="1" dirty="0"/>
          </a:p>
        </p:txBody>
      </p:sp>
    </p:spTree>
    <p:extLst>
      <p:ext uri="{BB962C8B-B14F-4D97-AF65-F5344CB8AC3E}">
        <p14:creationId xmlns:p14="http://schemas.microsoft.com/office/powerpoint/2010/main" xmlns=""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59837" y="1262432"/>
            <a:ext cx="10870163" cy="3539430"/>
          </a:xfrm>
          <a:prstGeom prst="rect">
            <a:avLst/>
          </a:prstGeom>
          <a:noFill/>
        </p:spPr>
        <p:txBody>
          <a:bodyPr wrap="square" rtlCol="0">
            <a:spAutoFit/>
          </a:bodyPr>
          <a:lstStyle/>
          <a:p>
            <a:pPr>
              <a:buFont typeface="Arial" pitchFamily="34" charset="0"/>
              <a:buChar char="•"/>
            </a:pPr>
            <a:r>
              <a:rPr lang="en-US" dirty="0" smtClean="0"/>
              <a:t>The proposed solution is an AI-powered Startup Blueprint Generator that helps entrepreneurs transform raw ideas into structured startup plans.</a:t>
            </a:r>
          </a:p>
          <a:p>
            <a:pPr>
              <a:buFont typeface="Arial" pitchFamily="34" charset="0"/>
              <a:buChar char="•"/>
            </a:pPr>
            <a:r>
              <a:rPr lang="en-US" dirty="0" smtClean="0"/>
              <a:t>The system is built using </a:t>
            </a:r>
            <a:r>
              <a:rPr lang="en-US" dirty="0" err="1" smtClean="0"/>
              <a:t>LangFlow</a:t>
            </a:r>
            <a:r>
              <a:rPr lang="en-US" dirty="0" smtClean="0"/>
              <a:t>, IBM watsonx.ai, IBM Granite Models, and Retrieval-Augmented Generation (RAG).</a:t>
            </a:r>
          </a:p>
          <a:p>
            <a:pPr>
              <a:buFont typeface="Arial" pitchFamily="34" charset="0"/>
              <a:buChar char="•"/>
            </a:pPr>
            <a:r>
              <a:rPr lang="en-US" dirty="0" smtClean="0"/>
              <a:t>The architecture consists of multiple intelligent agents that collaborate to generate startup blueprints.</a:t>
            </a:r>
          </a:p>
          <a:p>
            <a:pPr>
              <a:buFont typeface="Arial" pitchFamily="34" charset="0"/>
              <a:buChar char="•"/>
            </a:pPr>
            <a:r>
              <a:rPr lang="en-US" dirty="0" smtClean="0"/>
              <a:t>Idea Analysis Agent identifies business opportunities and target audiences.</a:t>
            </a:r>
          </a:p>
          <a:p>
            <a:pPr>
              <a:buFont typeface="Arial" pitchFamily="34" charset="0"/>
              <a:buChar char="•"/>
            </a:pPr>
            <a:r>
              <a:rPr lang="en-US" dirty="0" smtClean="0"/>
              <a:t>Market Research Agent analyzes competitors, trends, opportunities, and risks.</a:t>
            </a:r>
          </a:p>
          <a:p>
            <a:pPr>
              <a:buFont typeface="Arial" pitchFamily="34" charset="0"/>
              <a:buChar char="•"/>
            </a:pPr>
            <a:r>
              <a:rPr lang="en-US" dirty="0" smtClean="0"/>
              <a:t>Business Model Agent generates revenue strategies and business recommendations.</a:t>
            </a:r>
          </a:p>
          <a:p>
            <a:pPr>
              <a:buFont typeface="Arial" pitchFamily="34" charset="0"/>
              <a:buChar char="•"/>
            </a:pPr>
            <a:r>
              <a:rPr lang="en-US" dirty="0" smtClean="0"/>
              <a:t>Funding Agent uses RAG to retrieve relevant startup grants, government schemes, and incubator opportunities from trusted sources.</a:t>
            </a:r>
          </a:p>
          <a:p>
            <a:pPr>
              <a:buFont typeface="Arial" pitchFamily="34" charset="0"/>
              <a:buChar char="•"/>
            </a:pPr>
            <a:r>
              <a:rPr lang="en-US" dirty="0" smtClean="0"/>
              <a:t>Roadmap Agent generates implementation timelines and execution plans</a:t>
            </a:r>
            <a:r>
              <a:rPr lang="en-US" dirty="0" smtClean="0"/>
              <a:t>.</a:t>
            </a:r>
          </a:p>
          <a:p>
            <a:pPr>
              <a:buFont typeface="Arial" pitchFamily="34" charset="0"/>
              <a:buChar char="•"/>
            </a:pPr>
            <a:r>
              <a:rPr lang="en-US" dirty="0" smtClean="0"/>
              <a:t>Readiness Assessment Agent evaluates startup viability and generates a readiness score.</a:t>
            </a:r>
          </a:p>
          <a:p>
            <a:pPr>
              <a:buFont typeface="Arial" pitchFamily="34" charset="0"/>
              <a:buChar char="•"/>
            </a:pPr>
            <a:r>
              <a:rPr lang="en-US" dirty="0" smtClean="0"/>
              <a:t>Finally, the Blueprint Generator Agent consolidates outputs from all agents into a comprehensive startup blueprint.</a:t>
            </a:r>
          </a:p>
          <a:p>
            <a:pPr>
              <a:buFont typeface="Arial" pitchFamily="34" charset="0"/>
              <a:buChar char="•"/>
            </a:pPr>
            <a:r>
              <a:rPr lang="en-US" dirty="0" smtClean="0"/>
              <a:t>The system uses a vector database to store startup-related documents, government schemes, funding information, incubator details, and business resources. Granite models provide reasoning, summarization, and recommendation capabilities, while </a:t>
            </a:r>
            <a:r>
              <a:rPr lang="en-US" dirty="0" err="1" smtClean="0"/>
              <a:t>LangFlow</a:t>
            </a:r>
            <a:r>
              <a:rPr lang="en-US" dirty="0" smtClean="0"/>
              <a:t> orchestrates the complete multi-agent workflow.</a:t>
            </a:r>
          </a:p>
          <a:p>
            <a:pPr>
              <a:buFont typeface="Arial" pitchFamily="34" charset="0"/>
              <a:buChar char="•"/>
            </a:pPr>
            <a:endParaRPr lang="en-US" dirty="0" smtClean="0"/>
          </a:p>
          <a:p>
            <a:pPr fontAlgn="base">
              <a:buFont typeface="Arial" pitchFamily="34" charset="0"/>
              <a:buChar char="•"/>
            </a:pPr>
            <a:endParaRPr lang="en-US" b="1"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r>
              <a:rPr lang="en-US" sz="2400" b="1" dirty="0" smtClean="0"/>
              <a:t>.:</a:t>
            </a:r>
            <a:endParaRPr lang="en-IN" sz="2400" b="1" dirty="0"/>
          </a:p>
        </p:txBody>
      </p:sp>
    </p:spTree>
    <p:extLst>
      <p:ext uri="{BB962C8B-B14F-4D97-AF65-F5344CB8AC3E}">
        <p14:creationId xmlns:p14="http://schemas.microsoft.com/office/powerpoint/2010/main" xmlns=""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r>
              <a:rPr lang="en-US" sz="2400" b="1" dirty="0" smtClean="0">
                <a:sym typeface="Times New Roman"/>
              </a:rPr>
              <a:t>.:</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3539430"/>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dirty="0" smtClean="0"/>
              <a:t>Chat </a:t>
            </a:r>
            <a:r>
              <a:rPr lang="en-US" dirty="0" err="1" smtClean="0"/>
              <a:t>InputAccepts</a:t>
            </a:r>
            <a:r>
              <a:rPr lang="en-US" dirty="0" smtClean="0"/>
              <a:t> startup ideas and user requirements.</a:t>
            </a:r>
          </a:p>
          <a:p>
            <a:pPr marL="342900" indent="-342900">
              <a:buFont typeface="+mj-lt"/>
              <a:buAutoNum type="arabicPeriod"/>
            </a:pPr>
            <a:r>
              <a:rPr lang="en-US" dirty="0" smtClean="0"/>
              <a:t>IBM </a:t>
            </a:r>
            <a:r>
              <a:rPr lang="en-US" dirty="0" err="1" smtClean="0"/>
              <a:t>watsonx</a:t>
            </a:r>
            <a:r>
              <a:rPr lang="en-US" dirty="0" smtClean="0"/>
              <a:t> AI </a:t>
            </a:r>
            <a:r>
              <a:rPr lang="en-US" dirty="0" err="1" smtClean="0"/>
              <a:t>AgentProcesses</a:t>
            </a:r>
            <a:r>
              <a:rPr lang="en-US" dirty="0" smtClean="0"/>
              <a:t> startup ideas using IBM Granite models.</a:t>
            </a:r>
          </a:p>
          <a:p>
            <a:pPr marL="342900" indent="-342900">
              <a:buFont typeface="+mj-lt"/>
              <a:buAutoNum type="arabicPeriod"/>
            </a:pPr>
            <a:r>
              <a:rPr lang="en-US" dirty="0" smtClean="0"/>
              <a:t>Name of IBM Granite ModelGranite-4-H-Small</a:t>
            </a:r>
          </a:p>
          <a:p>
            <a:pPr marL="342900" indent="-342900">
              <a:buFont typeface="+mj-lt"/>
              <a:buAutoNum type="arabicPeriod"/>
            </a:pPr>
            <a:r>
              <a:rPr lang="en-US" dirty="0" smtClean="0"/>
              <a:t>Chat </a:t>
            </a:r>
            <a:r>
              <a:rPr lang="en-US" dirty="0" err="1" smtClean="0"/>
              <a:t>OutputDisplays</a:t>
            </a:r>
            <a:r>
              <a:rPr lang="en-US" dirty="0" smtClean="0"/>
              <a:t> startup blueprint recommendations and reports.</a:t>
            </a:r>
          </a:p>
          <a:p>
            <a:pPr marL="342900" indent="-342900">
              <a:buFont typeface="+mj-lt"/>
              <a:buAutoNum type="arabicPeriod"/>
            </a:pPr>
            <a:r>
              <a:rPr lang="en-US" dirty="0" smtClean="0"/>
              <a:t>File </a:t>
            </a:r>
            <a:r>
              <a:rPr lang="en-US" dirty="0" err="1" smtClean="0"/>
              <a:t>ComponentStores</a:t>
            </a:r>
            <a:r>
              <a:rPr lang="en-US" dirty="0" smtClean="0"/>
              <a:t> and retrieves startup documents, funding guides, and business resources.</a:t>
            </a:r>
          </a:p>
          <a:p>
            <a:pPr marL="342900" indent="-342900">
              <a:buFont typeface="+mj-lt"/>
              <a:buAutoNum type="arabicPeriod"/>
            </a:pPr>
            <a:r>
              <a:rPr lang="en-US" dirty="0" smtClean="0"/>
              <a:t>RAG Retrieval </a:t>
            </a:r>
            <a:r>
              <a:rPr lang="en-US" dirty="0" err="1" smtClean="0"/>
              <a:t>ComponentRetrieves</a:t>
            </a:r>
            <a:r>
              <a:rPr lang="en-US" dirty="0" smtClean="0"/>
              <a:t> relevant startup and funding information from vector databases.</a:t>
            </a:r>
          </a:p>
          <a:p>
            <a:pPr marL="342900" indent="-342900">
              <a:buFont typeface="+mj-lt"/>
              <a:buAutoNum type="arabicPeriod"/>
            </a:pPr>
            <a:r>
              <a:rPr lang="en-US" dirty="0" smtClean="0"/>
              <a:t>Prompt </a:t>
            </a:r>
            <a:r>
              <a:rPr lang="en-US" dirty="0" err="1" smtClean="0"/>
              <a:t>ComponentDefines</a:t>
            </a:r>
            <a:r>
              <a:rPr lang="en-US" dirty="0" smtClean="0"/>
              <a:t> specialized prompts for individual agents.</a:t>
            </a:r>
          </a:p>
          <a:p>
            <a:pPr marL="342900" indent="-342900">
              <a:buFont typeface="+mj-lt"/>
              <a:buAutoNum type="arabicPeriod"/>
            </a:pPr>
            <a:r>
              <a:rPr lang="en-US" dirty="0" smtClean="0"/>
              <a:t>Agent </a:t>
            </a:r>
            <a:r>
              <a:rPr lang="en-US" dirty="0" err="1" smtClean="0"/>
              <a:t>ComponentCoordinates</a:t>
            </a:r>
            <a:r>
              <a:rPr lang="en-US" dirty="0" smtClean="0"/>
              <a:t> Idea, Market, Business, Funding, Roadmap, and Readiness agents.</a:t>
            </a:r>
          </a:p>
          <a:p>
            <a:pPr marL="342900" indent="-342900">
              <a:buFont typeface="+mj-lt"/>
              <a:buAutoNum type="arabicPeriod"/>
            </a:pPr>
            <a:endParaRPr lang="en-US" dirty="0" smtClean="0"/>
          </a:p>
          <a:p>
            <a:pPr marL="342900" indent="-342900">
              <a:buFont typeface="+mj-lt"/>
              <a:buAutoNum type="arabicPeriod"/>
            </a:pPr>
            <a:endParaRPr lang="en-US" dirty="0"/>
          </a:p>
          <a:p>
            <a:pPr marL="342900" indent="-342900"/>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endParaRPr lang="en-IN" dirty="0"/>
          </a:p>
        </p:txBody>
      </p:sp>
    </p:spTree>
    <p:extLst>
      <p:ext uri="{BB962C8B-B14F-4D97-AF65-F5344CB8AC3E}">
        <p14:creationId xmlns:p14="http://schemas.microsoft.com/office/powerpoint/2010/main" xmlns=""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r>
              <a:rPr lang="en-US" sz="2400" b="1" dirty="0" smtClean="0">
                <a:sym typeface="Times New Roman"/>
              </a:rPr>
              <a:t>.:</a:t>
            </a:r>
            <a:endParaRPr sz="2400" b="1" dirty="0">
              <a:sym typeface="Times New Roman"/>
            </a:endParaRPr>
          </a:p>
        </p:txBody>
      </p:sp>
      <p:pic>
        <p:nvPicPr>
          <p:cNvPr id="2050" name="Picture 2"/>
          <p:cNvPicPr>
            <a:picLocks noChangeAspect="1" noChangeArrowheads="1"/>
          </p:cNvPicPr>
          <p:nvPr/>
        </p:nvPicPr>
        <p:blipFill>
          <a:blip r:embed="rId3"/>
          <a:srcRect/>
          <a:stretch>
            <a:fillRect/>
          </a:stretch>
        </p:blipFill>
        <p:spPr bwMode="auto">
          <a:xfrm>
            <a:off x="503852" y="1054359"/>
            <a:ext cx="10646229" cy="4721873"/>
          </a:xfrm>
          <a:prstGeom prst="rect">
            <a:avLst/>
          </a:prstGeom>
          <a:noFill/>
          <a:ln w="9525">
            <a:noFill/>
            <a:miter lim="800000"/>
            <a:headEnd/>
            <a:tailEnd/>
          </a:ln>
          <a:effectLst/>
        </p:spPr>
      </p:pic>
    </p:spTree>
    <p:extLst>
      <p:ext uri="{BB962C8B-B14F-4D97-AF65-F5344CB8AC3E}">
        <p14:creationId xmlns:p14="http://schemas.microsoft.com/office/powerpoint/2010/main" xmlns=""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a:t>
            </a:r>
            <a:r>
              <a:rPr lang="en-US" sz="2400" b="1" dirty="0" smtClean="0">
                <a:solidFill>
                  <a:schemeClr val="dk1"/>
                </a:solidFill>
                <a:latin typeface="Calibri"/>
                <a:ea typeface="Calibri"/>
                <a:cs typeface="Calibri"/>
                <a:sym typeface="Calibri"/>
              </a:rPr>
              <a:t>blueprint .:</a:t>
            </a:r>
            <a:endParaRPr lang="en-US" sz="2400" dirty="0"/>
          </a:p>
        </p:txBody>
      </p:sp>
      <p:pic>
        <p:nvPicPr>
          <p:cNvPr id="1026" name="Picture 2"/>
          <p:cNvPicPr>
            <a:picLocks noChangeAspect="1" noChangeArrowheads="1"/>
          </p:cNvPicPr>
          <p:nvPr/>
        </p:nvPicPr>
        <p:blipFill>
          <a:blip r:embed="rId3"/>
          <a:srcRect/>
          <a:stretch>
            <a:fillRect/>
          </a:stretch>
        </p:blipFill>
        <p:spPr bwMode="auto">
          <a:xfrm>
            <a:off x="1517195" y="783771"/>
            <a:ext cx="9324975" cy="5215813"/>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3693319"/>
          </a:xfrm>
          <a:prstGeom prst="rect">
            <a:avLst/>
          </a:prstGeom>
          <a:noFill/>
        </p:spPr>
        <p:txBody>
          <a:bodyPr wrap="square" rtlCol="0">
            <a:spAutoFit/>
          </a:bodyPr>
          <a:lstStyle/>
          <a:p>
            <a:pPr>
              <a:buFont typeface="Arial" pitchFamily="34" charset="0"/>
              <a:buChar char="•"/>
            </a:pPr>
            <a:r>
              <a:rPr lang="en-US" sz="1800" dirty="0" err="1" smtClean="0"/>
              <a:t>Agentic</a:t>
            </a:r>
            <a:r>
              <a:rPr lang="en-US" sz="1800" dirty="0" smtClean="0"/>
              <a:t> AI enables </a:t>
            </a:r>
            <a:r>
              <a:rPr lang="en-US" sz="1800" dirty="0" err="1" smtClean="0"/>
              <a:t>StartupForge</a:t>
            </a:r>
            <a:r>
              <a:rPr lang="en-US" sz="1800" dirty="0" smtClean="0"/>
              <a:t> AI to function as an autonomous startup consultant rather than a simple </a:t>
            </a:r>
            <a:r>
              <a:rPr lang="en-US" sz="1800" dirty="0" err="1" smtClean="0"/>
              <a:t>chatbot</a:t>
            </a:r>
            <a:r>
              <a:rPr lang="en-US" sz="1800" dirty="0" smtClean="0"/>
              <a:t>.</a:t>
            </a:r>
          </a:p>
          <a:p>
            <a:pPr>
              <a:buFont typeface="Arial" pitchFamily="34" charset="0"/>
              <a:buChar char="•"/>
            </a:pPr>
            <a:r>
              <a:rPr lang="en-US" sz="1800" dirty="0" smtClean="0"/>
              <a:t>Each specialized agent performs a dedicated task such as idea analysis, market research, funding discovery, business strategy generation, and roadmap creation.</a:t>
            </a:r>
          </a:p>
          <a:p>
            <a:pPr>
              <a:buFont typeface="Arial" pitchFamily="34" charset="0"/>
              <a:buChar char="•"/>
            </a:pPr>
            <a:r>
              <a:rPr lang="en-US" sz="1800" dirty="0" smtClean="0"/>
              <a:t>The agents collaborate with one another and exchange context, ensuring better decision-making and comprehensive startup planning.</a:t>
            </a:r>
          </a:p>
          <a:p>
            <a:pPr>
              <a:buFont typeface="Arial" pitchFamily="34" charset="0"/>
              <a:buChar char="•"/>
            </a:pPr>
            <a:r>
              <a:rPr lang="en-US" sz="1800" dirty="0" err="1" smtClean="0"/>
              <a:t>Agentic</a:t>
            </a:r>
            <a:r>
              <a:rPr lang="en-US" sz="1800" dirty="0" smtClean="0"/>
              <a:t> AI allows the system to dynamically adapt recommendations based on startup domain, funding requirements, target audience, and business goals.</a:t>
            </a:r>
          </a:p>
          <a:p>
            <a:pPr>
              <a:buFont typeface="Arial" pitchFamily="34" charset="0"/>
              <a:buChar char="•"/>
            </a:pPr>
            <a:r>
              <a:rPr lang="en-US" sz="1800" dirty="0" smtClean="0"/>
              <a:t>This multi-agent approach improves accuracy, scalability, and personalization while reducing the effort required for startup planning.</a:t>
            </a:r>
          </a:p>
          <a:p>
            <a:pPr>
              <a:buFont typeface="Arial" pitchFamily="34" charset="0"/>
              <a:buChar char="•"/>
            </a:pP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a:t>
            </a:r>
            <a:r>
              <a:rPr lang="en-US" sz="2400" b="1" dirty="0" smtClean="0"/>
              <a:t>Used.:</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4524315"/>
          </a:xfrm>
          <a:prstGeom prst="rect">
            <a:avLst/>
          </a:prstGeom>
          <a:noFill/>
        </p:spPr>
        <p:txBody>
          <a:bodyPr wrap="square" rtlCol="0">
            <a:spAutoFit/>
          </a:bodyPr>
          <a:lstStyle/>
          <a:p>
            <a:pPr>
              <a:buFont typeface="Arial" pitchFamily="34" charset="0"/>
              <a:buChar char="•"/>
            </a:pPr>
            <a:r>
              <a:rPr lang="en-US" sz="1800" dirty="0" err="1" smtClean="0"/>
              <a:t>LangFlow</a:t>
            </a:r>
            <a:r>
              <a:rPr lang="en-US" sz="1800" dirty="0" smtClean="0"/>
              <a:t> Platform</a:t>
            </a:r>
          </a:p>
          <a:p>
            <a:pPr>
              <a:buFont typeface="Arial" pitchFamily="34" charset="0"/>
              <a:buChar char="•"/>
            </a:pPr>
            <a:r>
              <a:rPr lang="en-US" sz="1800" dirty="0" smtClean="0"/>
              <a:t>Visual orchestration of multi-agent workflows.</a:t>
            </a:r>
          </a:p>
          <a:p>
            <a:pPr>
              <a:buFont typeface="Arial" pitchFamily="34" charset="0"/>
              <a:buChar char="•"/>
            </a:pPr>
            <a:r>
              <a:rPr lang="en-US" sz="1800" dirty="0" smtClean="0"/>
              <a:t>IBM Granite Model (Granite-4-H-Small)</a:t>
            </a:r>
          </a:p>
          <a:p>
            <a:pPr>
              <a:buFont typeface="Arial" pitchFamily="34" charset="0"/>
              <a:buChar char="•"/>
            </a:pPr>
            <a:r>
              <a:rPr lang="en-US" sz="1800" dirty="0" smtClean="0"/>
              <a:t>Startup analysis, reasoning, summarization, and recommendations.</a:t>
            </a:r>
          </a:p>
          <a:p>
            <a:pPr>
              <a:buFont typeface="Arial" pitchFamily="34" charset="0"/>
              <a:buChar char="•"/>
            </a:pPr>
            <a:r>
              <a:rPr lang="en-US" sz="1800" dirty="0" smtClean="0"/>
              <a:t>IBM watsonx.ai</a:t>
            </a:r>
          </a:p>
          <a:p>
            <a:pPr>
              <a:buFont typeface="Arial" pitchFamily="34" charset="0"/>
              <a:buChar char="•"/>
            </a:pPr>
            <a:r>
              <a:rPr lang="en-US" sz="1800" dirty="0" smtClean="0"/>
              <a:t>Model deployment, AI governance, and inference.</a:t>
            </a:r>
          </a:p>
          <a:p>
            <a:pPr>
              <a:buFont typeface="Arial" pitchFamily="34" charset="0"/>
              <a:buChar char="•"/>
            </a:pPr>
            <a:r>
              <a:rPr lang="en-US" sz="1800" dirty="0" smtClean="0"/>
              <a:t>IBM Cloud</a:t>
            </a:r>
          </a:p>
          <a:p>
            <a:pPr>
              <a:buFont typeface="Arial" pitchFamily="34" charset="0"/>
              <a:buChar char="•"/>
            </a:pPr>
            <a:r>
              <a:rPr lang="en-US" sz="1800" dirty="0" smtClean="0"/>
              <a:t>Secure deployment and scalable infrastructure.</a:t>
            </a:r>
          </a:p>
          <a:p>
            <a:pPr>
              <a:buFont typeface="Arial" pitchFamily="34" charset="0"/>
              <a:buChar char="•"/>
            </a:pPr>
            <a:r>
              <a:rPr lang="en-US" sz="1800" dirty="0" smtClean="0"/>
              <a:t>RAG (Retrieval-Augmented Generation)</a:t>
            </a:r>
          </a:p>
          <a:p>
            <a:pPr>
              <a:buFont typeface="Arial" pitchFamily="34" charset="0"/>
              <a:buChar char="•"/>
            </a:pPr>
            <a:r>
              <a:rPr lang="en-US" sz="1800" dirty="0" smtClean="0"/>
              <a:t>Retrieves funding opportunities, startup schemes, and business resources from trusted sources</a:t>
            </a:r>
            <a:r>
              <a:rPr lang="en-US" sz="1800" dirty="0" smtClean="0"/>
              <a:t>.</a:t>
            </a:r>
          </a:p>
          <a:p>
            <a:pPr>
              <a:buFont typeface="Arial" pitchFamily="34" charset="0"/>
              <a:buChar char="•"/>
            </a:pPr>
            <a:r>
              <a:rPr lang="en-US" sz="1800" dirty="0" smtClean="0"/>
              <a:t>Vector Database (</a:t>
            </a:r>
            <a:r>
              <a:rPr lang="en-US" sz="1800" dirty="0" err="1" smtClean="0"/>
              <a:t>ChromaDB</a:t>
            </a:r>
            <a:r>
              <a:rPr lang="en-US" sz="1800" dirty="0" smtClean="0"/>
              <a:t>)</a:t>
            </a:r>
          </a:p>
          <a:p>
            <a:pPr>
              <a:buFont typeface="Arial" pitchFamily="34" charset="0"/>
              <a:buChar char="•"/>
            </a:pPr>
            <a:r>
              <a:rPr lang="en-US" sz="1800" dirty="0" smtClean="0"/>
              <a:t>Stores embeddings for startup-related knowledge retrieval.</a:t>
            </a:r>
          </a:p>
          <a:p>
            <a:pPr>
              <a:buFont typeface="Arial" pitchFamily="34" charset="0"/>
              <a:buChar char="•"/>
            </a:pPr>
            <a:r>
              <a:rPr lang="en-US" sz="1800" dirty="0" err="1" smtClean="0"/>
              <a:t>FastAPI</a:t>
            </a:r>
            <a:endParaRPr lang="en-US" sz="1800" dirty="0" smtClean="0"/>
          </a:p>
          <a:p>
            <a:pPr>
              <a:buFont typeface="Arial" pitchFamily="34" charset="0"/>
              <a:buChar char="•"/>
            </a:pPr>
            <a:r>
              <a:rPr lang="en-US" sz="1800" dirty="0" smtClean="0"/>
              <a:t>Backend API development.</a:t>
            </a:r>
          </a:p>
          <a:p>
            <a:pPr>
              <a:buFont typeface="Arial" pitchFamily="34" charset="0"/>
              <a:buChar char="•"/>
            </a:pPr>
            <a:endParaRPr lang="en-US" sz="1800" dirty="0" smtClean="0"/>
          </a:p>
          <a:p>
            <a:pPr>
              <a:buFont typeface="Arial" pitchFamily="34" charset="0"/>
              <a:buChar char="•"/>
            </a:pPr>
            <a:endParaRPr lang="en-IN" sz="1800" dirty="0"/>
          </a:p>
        </p:txBody>
      </p:sp>
    </p:spTree>
    <p:extLst>
      <p:ext uri="{BB962C8B-B14F-4D97-AF65-F5344CB8AC3E}">
        <p14:creationId xmlns:p14="http://schemas.microsoft.com/office/powerpoint/2010/main" xmlns=""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4893647"/>
          </a:xfrm>
          <a:prstGeom prst="rect">
            <a:avLst/>
          </a:prstGeom>
          <a:noFill/>
        </p:spPr>
        <p:txBody>
          <a:bodyPr wrap="square" rtlCol="0">
            <a:spAutoFit/>
          </a:bodyPr>
          <a:lstStyle/>
          <a:p>
            <a:r>
              <a:rPr lang="en-US" sz="2400" dirty="0" smtClean="0"/>
              <a:t>Multi-Agent Startup Consultant – Multiple specialized agents collaborate instead of relying on a single </a:t>
            </a:r>
            <a:r>
              <a:rPr lang="en-US" sz="2400" dirty="0" err="1" smtClean="0"/>
              <a:t>chatbot</a:t>
            </a:r>
            <a:r>
              <a:rPr lang="en-US" sz="2400" dirty="0" smtClean="0"/>
              <a:t>.</a:t>
            </a:r>
          </a:p>
          <a:p>
            <a:r>
              <a:rPr lang="en-US" sz="2400" dirty="0" smtClean="0"/>
              <a:t>• RAG-Based Startup Intelligence – Uses trusted startup documents and funding resources rather than only model knowledge.</a:t>
            </a:r>
          </a:p>
          <a:p>
            <a:r>
              <a:rPr lang="en-US" sz="2400" dirty="0" smtClean="0"/>
              <a:t>• Startup Readiness Scoring – Evaluates feasibility, scalability, innovation, and funding potential.</a:t>
            </a:r>
          </a:p>
          <a:p>
            <a:r>
              <a:rPr lang="en-US" sz="2400" dirty="0" smtClean="0"/>
              <a:t>• End-to-End Blueprint Generation – Generates complete startup plans from idea to launch.</a:t>
            </a:r>
          </a:p>
          <a:p>
            <a:r>
              <a:rPr lang="en-US" sz="2400" dirty="0" smtClean="0"/>
              <a:t>• Personalized Recommendations – Tailors business strategies according to startup domain and objectives.</a:t>
            </a:r>
          </a:p>
          <a:p>
            <a:r>
              <a:rPr lang="en-US" sz="2400" dirty="0" smtClean="0"/>
              <a:t>• Entrepreneur-Centric Design – Specifically designed for aspiring entrepreneurs and student innovators.</a:t>
            </a:r>
          </a:p>
          <a:p>
            <a:endParaRPr lang="en-IN" sz="2400" dirty="0"/>
          </a:p>
        </p:txBody>
      </p:sp>
    </p:spTree>
    <p:extLst>
      <p:ext uri="{BB962C8B-B14F-4D97-AF65-F5344CB8AC3E}">
        <p14:creationId xmlns:p14="http://schemas.microsoft.com/office/powerpoint/2010/main" xmlns=""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endParaRPr lang="en-US" sz="2400" b="1" dirty="0" smtClean="0">
              <a:sym typeface="Times New Roman"/>
            </a:endParaRPr>
          </a:p>
          <a:p>
            <a:pPr lvl="0">
              <a:lnSpc>
                <a:spcPct val="157142"/>
              </a:lnSpc>
              <a:buClr>
                <a:srgbClr val="051D3A"/>
              </a:buClr>
              <a:buSzPts val="3500"/>
            </a:pPr>
            <a:r>
              <a:rPr lang="en-US" sz="2400" b="1" dirty="0" err="1" smtClean="0">
                <a:sym typeface="Times New Roman"/>
              </a:rPr>
              <a:t>Git</a:t>
            </a:r>
            <a:r>
              <a:rPr lang="en-US" sz="2400" b="1" dirty="0" smtClean="0">
                <a:sym typeface="Times New Roman"/>
              </a:rPr>
              <a:t> </a:t>
            </a:r>
            <a:r>
              <a:rPr lang="en-US" sz="2400" b="1" dirty="0">
                <a:sym typeface="Times New Roman"/>
              </a:rPr>
              <a:t>Hub </a:t>
            </a:r>
            <a:r>
              <a:rPr lang="en-US" sz="2400" b="1" dirty="0" smtClean="0">
                <a:sym typeface="Times New Roman"/>
              </a:rPr>
              <a:t>Link.:</a:t>
            </a:r>
            <a:r>
              <a:rPr lang="en-US" sz="2400" dirty="0" smtClean="0">
                <a:solidFill>
                  <a:srgbClr val="2B3541"/>
                </a:solidFill>
                <a:latin typeface="Times New Roman"/>
                <a:ea typeface="Times New Roman"/>
                <a:cs typeface="Times New Roman"/>
                <a:sym typeface="Times New Roman"/>
              </a:rPr>
              <a:t> https://github.com/jaisurya36/StartupForageAI.git</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162740" y="1125720"/>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dirty="0" smtClean="0"/>
              <a:t>• Investor Matching Agent</a:t>
            </a:r>
          </a:p>
          <a:p>
            <a:r>
              <a:rPr lang="en-US" sz="2000" dirty="0" smtClean="0"/>
              <a:t>• Pitch Deck Generator Agent</a:t>
            </a:r>
          </a:p>
          <a:p>
            <a:r>
              <a:rPr lang="en-US" sz="2000" dirty="0" smtClean="0"/>
              <a:t>• Financial Forecasting Agent</a:t>
            </a:r>
          </a:p>
          <a:p>
            <a:r>
              <a:rPr lang="en-US" sz="2000" dirty="0" smtClean="0"/>
              <a:t>• Competitor Monitoring Agent</a:t>
            </a:r>
          </a:p>
          <a:p>
            <a:r>
              <a:rPr lang="en-US" sz="2000" dirty="0" smtClean="0"/>
              <a:t>• Legal Compliance Agent</a:t>
            </a:r>
          </a:p>
          <a:p>
            <a:r>
              <a:rPr lang="en-US" sz="2000" dirty="0" smtClean="0"/>
              <a:t>• Startup Registration Assistant</a:t>
            </a:r>
          </a:p>
          <a:p>
            <a:r>
              <a:rPr lang="en-US" sz="2000" dirty="0" smtClean="0"/>
              <a:t>• AI-Based Risk Prediction System</a:t>
            </a:r>
          </a:p>
          <a:p>
            <a:r>
              <a:rPr lang="en-US" sz="2000" dirty="0" smtClean="0"/>
              <a:t>• Integration with Startup India and incubator platforms</a:t>
            </a:r>
          </a:p>
          <a:p>
            <a:r>
              <a:rPr lang="en-US" sz="2000" dirty="0" smtClean="0"/>
              <a:t>The future version can evolve into a complete AI-powered startup ecosystem assistant supporting entrepreneurs from idea generation to business growth.</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1185</TotalTime>
  <Words>728</Words>
  <Application>Microsoft Office PowerPoint</Application>
  <PresentationFormat>Custom</PresentationFormat>
  <Paragraphs>112</Paragraphs>
  <Slides>14</Slides>
  <Notes>13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Lenovo</cp:lastModifiedBy>
  <cp:revision>22</cp:revision>
  <dcterms:created xsi:type="dcterms:W3CDTF">2025-07-08T05:06:56Z</dcterms:created>
  <dcterms:modified xsi:type="dcterms:W3CDTF">2026-06-04T09:11:15Z</dcterms:modified>
</cp:coreProperties>
</file>